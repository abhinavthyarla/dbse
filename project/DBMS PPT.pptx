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74"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66899-C096-4686-B300-E1D6AA42CDE9}" v="18" dt="2026-07-02T16:12:21.471"/>
    <p1510:client id="{E9B0078F-71CD-40F1-B7A0-85484F5377DB}" v="8" dt="2026-07-03T06:55:41.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370" autoAdjust="0"/>
    <p:restoredTop sz="95033" autoAdjust="0"/>
  </p:normalViewPr>
  <p:slideViewPr>
    <p:cSldViewPr snapToGrid="0" snapToObjects="1">
      <p:cViewPr varScale="1">
        <p:scale>
          <a:sx n="78" d="100"/>
          <a:sy n="78" d="100"/>
        </p:scale>
        <p:origin x="264" y="72"/>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8/17/2026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17-08-2026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17-08-2026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17-08-2026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17-08-2026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17-08-2026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17-08-2026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17-08-2026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17-08-2026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17-08-2026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17-08-2026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17-08-2026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17-08-2026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17-08-2026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17-08-2026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17-08-2026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17-08-2026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17-08-2026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17-08-2026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445247"/>
            <a:ext cx="10392383" cy="631991"/>
          </a:xfrm>
        </p:spPr>
        <p:txBody>
          <a:bodyPr>
            <a:noAutofit/>
          </a:bodyPr>
          <a:lstStyle/>
          <a:p>
            <a:pPr algn="ctr">
              <a:lnSpc>
                <a:spcPct val="100000"/>
              </a:lnSpc>
            </a:pPr>
            <a:br>
              <a:rPr lang="en-US" sz="2400" b="1" dirty="0">
                <a:cs typeface="Arial" panose="020B0604020202020204" pitchFamily="34" charset="0"/>
              </a:rPr>
            </a:b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dirty="0">
                <a:latin typeface="+mn-lt"/>
                <a:cs typeface="Arial" panose="020B0604020202020204" pitchFamily="34" charset="0"/>
              </a:rPr>
            </a:br>
            <a:br>
              <a:rPr lang="en-US" sz="2400" dirty="0">
                <a:solidFill>
                  <a:srgbClr val="FF0000"/>
                </a:solidFill>
                <a:latin typeface="+mn-lt"/>
                <a:cs typeface="Arial" panose="020B0604020202020204" pitchFamily="34" charset="0"/>
              </a:rPr>
            </a:br>
            <a:r>
              <a:rPr lang="en-US" sz="2400" b="1" dirty="0">
                <a:solidFill>
                  <a:srgbClr val="011893"/>
                </a:solidFill>
                <a:latin typeface="+mn-lt"/>
                <a:cs typeface="Arial" panose="020B0604020202020204" pitchFamily="34" charset="0"/>
              </a:rPr>
              <a:t> SMART EVENT MANAGEMENT AND ONLINE TICKET BOOKING PLATFORM</a:t>
            </a:r>
            <a:br>
              <a:rPr lang="en-US" sz="2400" b="1" dirty="0">
                <a:solidFill>
                  <a:srgbClr val="011893"/>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Dr.Y</a:t>
            </a:r>
            <a:r>
              <a:rPr lang="en-US" sz="2400" dirty="0">
                <a:solidFill>
                  <a:srgbClr val="00B050"/>
                </a:solidFill>
              </a:rPr>
              <a:t> </a:t>
            </a:r>
            <a:r>
              <a:rPr lang="en-US" sz="2400" dirty="0" err="1">
                <a:solidFill>
                  <a:srgbClr val="00B050"/>
                </a:solidFill>
              </a:rPr>
              <a:t>Subbarayudu</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Assitant</a:t>
            </a:r>
            <a:r>
              <a:rPr lang="en-US" sz="2400" dirty="0">
                <a:solidFill>
                  <a:srgbClr val="00B050"/>
                </a:solidFill>
              </a:rPr>
              <a: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3404906515"/>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MD AMAN</a:t>
                      </a:r>
                    </a:p>
                  </a:txBody>
                  <a:tcPr/>
                </a:tc>
                <a:tc>
                  <a:txBody>
                    <a:bodyPr/>
                    <a:lstStyle/>
                    <a:p>
                      <a:r>
                        <a:rPr lang="en-US" dirty="0"/>
                        <a:t>2520030190</a:t>
                      </a:r>
                    </a:p>
                  </a:txBody>
                  <a:tcPr/>
                </a:tc>
                <a:extLst>
                  <a:ext uri="{0D108BD9-81ED-4DB2-BD59-A6C34878D82A}">
                    <a16:rowId xmlns:a16="http://schemas.microsoft.com/office/drawing/2014/main" val="253518174"/>
                  </a:ext>
                </a:extLst>
              </a:tr>
              <a:tr h="370840">
                <a:tc>
                  <a:txBody>
                    <a:bodyPr/>
                    <a:lstStyle/>
                    <a:p>
                      <a:r>
                        <a:rPr lang="en-IN" dirty="0"/>
                        <a:t>THYARLA ABHINAV </a:t>
                      </a:r>
                      <a:endParaRPr lang="en-US" dirty="0"/>
                    </a:p>
                  </a:txBody>
                  <a:tcPr/>
                </a:tc>
                <a:tc>
                  <a:txBody>
                    <a:bodyPr/>
                    <a:lstStyle/>
                    <a:p>
                      <a:r>
                        <a:rPr lang="en-IN" dirty="0"/>
                        <a:t>2520030075</a:t>
                      </a:r>
                      <a:endParaRPr lang="en-US" dirty="0"/>
                    </a:p>
                  </a:txBody>
                  <a:tcPr/>
                </a:tc>
                <a:extLst>
                  <a:ext uri="{0D108BD9-81ED-4DB2-BD59-A6C34878D82A}">
                    <a16:rowId xmlns:a16="http://schemas.microsoft.com/office/drawing/2014/main" val="241343805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VESIREDDY ASHISHREDDY</a:t>
                      </a:r>
                      <a:endParaRPr lang="en-US" dirty="0"/>
                    </a:p>
                  </a:txBody>
                  <a:tcPr/>
                </a:tc>
                <a:tc>
                  <a:txBody>
                    <a:bodyPr/>
                    <a:lstStyle/>
                    <a:p>
                      <a:r>
                        <a:rPr lang="en-IN" dirty="0"/>
                        <a:t>2520030415</a:t>
                      </a:r>
                      <a:endParaRPr lang="en-US" dirty="0"/>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NUMBER:1</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565611402"/>
              </p:ext>
            </p:extLst>
          </p:nvPr>
        </p:nvGraphicFramePr>
        <p:xfrm>
          <a:off x="838199" y="1416193"/>
          <a:ext cx="10515600" cy="2318206"/>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4184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29841">
                <a:tc>
                  <a:txBody>
                    <a:bodyPr/>
                    <a:lstStyle/>
                    <a:p>
                      <a:r>
                        <a:rPr lang="en-US" dirty="0"/>
                        <a:t>MD AMAN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2520030190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THYARLA ABHINAV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2520030075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VESIREDDY ASHISHREDDY</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2520030415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a:xfrm>
            <a:off x="700548" y="1708714"/>
            <a:ext cx="10515600" cy="4014736"/>
          </a:xfrm>
        </p:spPr>
        <p:txBody>
          <a:bodyPr>
            <a:normAutofit/>
          </a:bodyPr>
          <a:lstStyle/>
          <a:p>
            <a:pPr marL="0" indent="0" algn="just">
              <a:lnSpc>
                <a:spcPct val="100000"/>
              </a:lnSpc>
              <a:buNone/>
            </a:pPr>
            <a:r>
              <a:rPr lang="en-US" sz="2600" dirty="0">
                <a:cs typeface="Times New Roman" panose="02020603050405020304" pitchFamily="18" charset="0"/>
              </a:rPr>
              <a:t>The Smart Event Management and Online Ticket Booking Platform is a web-based system designed to simplify event management and online ticket booking. It allows organizers to create and manage events, while users can search for events, view details, and book tickets easily. The system uses SQL databases, RESTful APIs, JWT authentication, and role-based access control to provide secure and efficient management. The project applies key concepts of  database engineering, backend development, API testing, and deployment from the given syllabus.</a:t>
            </a:r>
            <a:endParaRPr lang="en-US" sz="2600" dirty="0"/>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p:txBody>
          <a:bodyPr>
            <a:normAutofit fontScale="92500" lnSpcReduction="10000"/>
          </a:bodyPr>
          <a:lstStyle/>
          <a:p>
            <a:pPr algn="just">
              <a:lnSpc>
                <a:spcPct val="110000"/>
              </a:lnSpc>
              <a:buFont typeface="Wingdings" panose="05000000000000000000" pitchFamily="2" charset="2"/>
              <a:buChar char="Ø"/>
            </a:pPr>
            <a:r>
              <a:rPr lang="en-US" sz="2200" dirty="0"/>
              <a:t>Smart Event Management and Online Ticket Booking Platform  is a web-based system designed to simplify event management and online ticket booking.</a:t>
            </a:r>
          </a:p>
          <a:p>
            <a:pPr algn="just">
              <a:lnSpc>
                <a:spcPct val="110000"/>
              </a:lnSpc>
              <a:buFont typeface="Wingdings" panose="05000000000000000000" pitchFamily="2" charset="2"/>
              <a:buChar char="Ø"/>
            </a:pPr>
            <a:r>
              <a:rPr lang="en-US" sz="2200" dirty="0"/>
              <a:t>It allows  event organizers to create, publish, and manage events with different ticket categories and prices.</a:t>
            </a:r>
          </a:p>
          <a:p>
            <a:pPr algn="just">
              <a:lnSpc>
                <a:spcPct val="110000"/>
              </a:lnSpc>
              <a:buFont typeface="Wingdings" panose="05000000000000000000" pitchFamily="2" charset="2"/>
              <a:buChar char="Ø"/>
            </a:pPr>
            <a:r>
              <a:rPr lang="en-US" sz="2200" dirty="0"/>
              <a:t>Users can  register, log in, search for events, view event details, and book tickets online.</a:t>
            </a:r>
          </a:p>
          <a:p>
            <a:pPr algn="just">
              <a:lnSpc>
                <a:spcPct val="110000"/>
              </a:lnSpc>
              <a:buFont typeface="Wingdings" panose="05000000000000000000" pitchFamily="2" charset="2"/>
              <a:buChar char="Ø"/>
            </a:pPr>
            <a:r>
              <a:rPr lang="en-US" sz="2200" dirty="0"/>
              <a:t>The system uses  RDBMS, SQL, RESTful APIs, and database normalization for efficient data management.</a:t>
            </a:r>
          </a:p>
          <a:p>
            <a:pPr algn="just">
              <a:lnSpc>
                <a:spcPct val="110000"/>
              </a:lnSpc>
              <a:buFont typeface="Wingdings" panose="05000000000000000000" pitchFamily="2" charset="2"/>
              <a:buChar char="Ø"/>
            </a:pPr>
            <a:r>
              <a:rPr lang="en-US" sz="2200" dirty="0"/>
              <a:t>JWT authentication and role-based access control provide secure access for users, organizers, and administrators.</a:t>
            </a:r>
          </a:p>
          <a:p>
            <a:pPr algn="just">
              <a:lnSpc>
                <a:spcPct val="110000"/>
              </a:lnSpc>
              <a:buFont typeface="Wingdings" panose="05000000000000000000" pitchFamily="2" charset="2"/>
              <a:buChar char="Ø"/>
            </a:pPr>
            <a:r>
              <a:rPr lang="en-US" sz="2200" dirty="0"/>
              <a:t>The project also applies  API validation, transactions, testing, and Docker deployment  concepts from the given syllabus.</a:t>
            </a:r>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p:txBody>
          <a:bodyPr>
            <a:normAutofit fontScale="70000" lnSpcReduction="20000"/>
          </a:bodyPr>
          <a:lstStyle/>
          <a:p>
            <a:pPr lvl="0" algn="just">
              <a:lnSpc>
                <a:spcPct val="120000"/>
              </a:lnSpc>
              <a:buFont typeface="Wingdings" panose="05000000000000000000" pitchFamily="2" charset="2"/>
              <a:buChar char="Ø"/>
            </a:pPr>
            <a:r>
              <a:rPr lang="en-IN" dirty="0"/>
              <a:t>Event information is managed through separate platforms or manual records.</a:t>
            </a:r>
          </a:p>
          <a:p>
            <a:pPr lvl="0" algn="just">
              <a:lnSpc>
                <a:spcPct val="120000"/>
              </a:lnSpc>
              <a:buFont typeface="Wingdings" panose="05000000000000000000" pitchFamily="2" charset="2"/>
              <a:buChar char="Ø"/>
            </a:pPr>
            <a:r>
              <a:rPr lang="en-IN" dirty="0"/>
              <a:t>Users may need to visit different websites or physical counters to find and book event tickets.</a:t>
            </a:r>
          </a:p>
          <a:p>
            <a:pPr lvl="0" algn="just">
              <a:lnSpc>
                <a:spcPct val="120000"/>
              </a:lnSpc>
              <a:buFont typeface="Wingdings" panose="05000000000000000000" pitchFamily="2" charset="2"/>
              <a:buChar char="Ø"/>
            </a:pPr>
            <a:r>
              <a:rPr lang="en-IN" dirty="0"/>
              <a:t>Ticket availability may not be updated in real time.</a:t>
            </a:r>
          </a:p>
          <a:p>
            <a:pPr lvl="0" algn="just">
              <a:lnSpc>
                <a:spcPct val="120000"/>
              </a:lnSpc>
              <a:buFont typeface="Wingdings" panose="05000000000000000000" pitchFamily="2" charset="2"/>
              <a:buChar char="Ø"/>
            </a:pPr>
            <a:r>
              <a:rPr lang="en-IN" dirty="0"/>
              <a:t>Manual data entry can lead to errors and duplicate bookings.</a:t>
            </a:r>
          </a:p>
          <a:p>
            <a:pPr lvl="0" algn="just">
              <a:lnSpc>
                <a:spcPct val="120000"/>
              </a:lnSpc>
              <a:buFont typeface="Wingdings" panose="05000000000000000000" pitchFamily="2" charset="2"/>
              <a:buChar char="Ø"/>
            </a:pPr>
            <a:r>
              <a:rPr lang="en-IN" dirty="0"/>
              <a:t>Managing users, events, venues, and ticket details separately makes data handling difficult.</a:t>
            </a:r>
          </a:p>
          <a:p>
            <a:pPr lvl="0" algn="just">
              <a:lnSpc>
                <a:spcPct val="120000"/>
              </a:lnSpc>
              <a:buFont typeface="Wingdings" panose="05000000000000000000" pitchFamily="2" charset="2"/>
              <a:buChar char="Ø"/>
            </a:pPr>
            <a:r>
              <a:rPr lang="en-IN" dirty="0"/>
              <a:t>Payment and booking records may not be centrally maintained.</a:t>
            </a:r>
          </a:p>
          <a:p>
            <a:pPr lvl="0" algn="just">
              <a:lnSpc>
                <a:spcPct val="120000"/>
              </a:lnSpc>
              <a:buFont typeface="Wingdings" panose="05000000000000000000" pitchFamily="2" charset="2"/>
              <a:buChar char="Ø"/>
            </a:pPr>
            <a:r>
              <a:rPr lang="en-IN" dirty="0"/>
              <a:t>Limited reporting makes it difficult for organizers to </a:t>
            </a:r>
            <a:r>
              <a:rPr lang="en-IN" dirty="0" err="1"/>
              <a:t>analyze</a:t>
            </a:r>
            <a:r>
              <a:rPr lang="en-IN" dirty="0"/>
              <a:t> ticket sales and event performance.</a:t>
            </a:r>
          </a:p>
          <a:p>
            <a:pPr lvl="0" algn="just">
              <a:lnSpc>
                <a:spcPct val="120000"/>
              </a:lnSpc>
              <a:buFont typeface="Wingdings" panose="05000000000000000000" pitchFamily="2" charset="2"/>
              <a:buChar char="Ø"/>
            </a:pPr>
            <a:r>
              <a:rPr lang="en-IN" dirty="0"/>
              <a:t>Lack of a centralized database can result in data inconsistency and duplication.</a:t>
            </a:r>
          </a:p>
          <a:p>
            <a:pPr lvl="0" algn="just">
              <a:lnSpc>
                <a:spcPct val="120000"/>
              </a:lnSpc>
              <a:buFont typeface="Wingdings" panose="05000000000000000000" pitchFamily="2" charset="2"/>
              <a:buChar char="Ø"/>
            </a:pPr>
            <a:r>
              <a:rPr lang="en-IN" dirty="0"/>
              <a:t>Users may have limited options to view and manage their booking history.</a:t>
            </a:r>
          </a:p>
          <a:p>
            <a:pPr lvl="0" algn="just">
              <a:lnSpc>
                <a:spcPct val="120000"/>
              </a:lnSpc>
              <a:buFont typeface="Wingdings" panose="05000000000000000000" pitchFamily="2" charset="2"/>
              <a:buChar char="Ø"/>
            </a:pPr>
            <a:r>
              <a:rPr lang="en-IN" dirty="0"/>
              <a:t>The existing process can be time-consuming for both event organizers and users.</a:t>
            </a:r>
          </a:p>
          <a:p>
            <a:pPr algn="just">
              <a:lnSpc>
                <a:spcPct val="120000"/>
              </a:lnSpc>
              <a:buFont typeface="Wingdings" panose="05000000000000000000" pitchFamily="2" charset="2"/>
              <a:buChar char="Ø"/>
            </a:pPr>
            <a:endParaRPr lang="en-US" dirty="0"/>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p:txBody>
          <a:bodyPr>
            <a:normAutofit fontScale="70000" lnSpcReduction="20000"/>
          </a:bodyPr>
          <a:lstStyle/>
          <a:p>
            <a:pPr lvl="0" algn="just">
              <a:lnSpc>
                <a:spcPct val="120000"/>
              </a:lnSpc>
              <a:buFont typeface="Wingdings" panose="05000000000000000000" pitchFamily="2" charset="2"/>
              <a:buChar char="Ø"/>
            </a:pPr>
            <a:r>
              <a:rPr lang="en-IN" dirty="0"/>
              <a:t>Managing event details, venues, ticket availability, and user information manually can be difficult. </a:t>
            </a:r>
          </a:p>
          <a:p>
            <a:pPr lvl="0" algn="just">
              <a:lnSpc>
                <a:spcPct val="120000"/>
              </a:lnSpc>
              <a:buFont typeface="Wingdings" panose="05000000000000000000" pitchFamily="2" charset="2"/>
              <a:buChar char="Ø"/>
            </a:pPr>
            <a:r>
              <a:rPr lang="en-IN" dirty="0"/>
              <a:t>Users may have to search through multiple platforms to find suitable events and book tickets. </a:t>
            </a:r>
          </a:p>
          <a:p>
            <a:pPr lvl="0" algn="just">
              <a:lnSpc>
                <a:spcPct val="120000"/>
              </a:lnSpc>
              <a:buFont typeface="Wingdings" panose="05000000000000000000" pitchFamily="2" charset="2"/>
              <a:buChar char="Ø"/>
            </a:pPr>
            <a:r>
              <a:rPr lang="en-IN" dirty="0"/>
              <a:t>Lack of real-time ticket availability can result in booking conflicts and overbooking. </a:t>
            </a:r>
          </a:p>
          <a:p>
            <a:pPr lvl="0" algn="just">
              <a:lnSpc>
                <a:spcPct val="120000"/>
              </a:lnSpc>
              <a:buFont typeface="Wingdings" panose="05000000000000000000" pitchFamily="2" charset="2"/>
              <a:buChar char="Ø"/>
            </a:pPr>
            <a:r>
              <a:rPr lang="en-IN" dirty="0"/>
              <a:t>Maintaining booking and payment records separately can lead to data inconsistency. </a:t>
            </a:r>
          </a:p>
          <a:p>
            <a:pPr lvl="0" algn="just">
              <a:lnSpc>
                <a:spcPct val="120000"/>
              </a:lnSpc>
              <a:buFont typeface="Wingdings" panose="05000000000000000000" pitchFamily="2" charset="2"/>
              <a:buChar char="Ø"/>
            </a:pPr>
            <a:r>
              <a:rPr lang="en-IN" dirty="0"/>
              <a:t>Event organizers may face difficulties in tracking ticket sales and event performance. </a:t>
            </a:r>
          </a:p>
          <a:p>
            <a:pPr lvl="0" algn="just">
              <a:lnSpc>
                <a:spcPct val="120000"/>
              </a:lnSpc>
              <a:buFont typeface="Wingdings" panose="05000000000000000000" pitchFamily="2" charset="2"/>
              <a:buChar char="Ø"/>
            </a:pPr>
            <a:r>
              <a:rPr lang="en-IN" dirty="0"/>
              <a:t>Manual record management increases the possibility of human errors and duplicate data. </a:t>
            </a:r>
          </a:p>
          <a:p>
            <a:pPr lvl="0" algn="just">
              <a:lnSpc>
                <a:spcPct val="120000"/>
              </a:lnSpc>
              <a:buFont typeface="Wingdings" panose="05000000000000000000" pitchFamily="2" charset="2"/>
              <a:buChar char="Ø"/>
            </a:pPr>
            <a:r>
              <a:rPr lang="en-IN" dirty="0"/>
              <a:t>Users may not have a centralized platform to view, manage, or cancel their bookings. </a:t>
            </a:r>
          </a:p>
          <a:p>
            <a:pPr lvl="0" algn="just">
              <a:lnSpc>
                <a:spcPct val="120000"/>
              </a:lnSpc>
              <a:buFont typeface="Wingdings" panose="05000000000000000000" pitchFamily="2" charset="2"/>
              <a:buChar char="Ø"/>
            </a:pPr>
            <a:r>
              <a:rPr lang="en-IN" dirty="0"/>
              <a:t>There is a need for a </a:t>
            </a:r>
            <a:r>
              <a:rPr lang="en-IN" b="1" dirty="0"/>
              <a:t>centralized, secure, and efficient system</a:t>
            </a:r>
            <a:r>
              <a:rPr lang="en-IN" dirty="0"/>
              <a:t> that manages events, tickets, bookings, users, and payments in one platform.</a:t>
            </a:r>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p:txBody>
          <a:bodyPr>
            <a:normAutofit/>
          </a:bodyPr>
          <a:lstStyle/>
          <a:p>
            <a:pPr lvl="0">
              <a:lnSpc>
                <a:spcPct val="100000"/>
              </a:lnSpc>
              <a:buFont typeface="Wingdings" panose="05000000000000000000" pitchFamily="2" charset="2"/>
              <a:buChar char="Ø"/>
            </a:pPr>
            <a:r>
              <a:rPr lang="en-IN" sz="2600" dirty="0"/>
              <a:t>Develop a </a:t>
            </a:r>
            <a:r>
              <a:rPr lang="en-IN" sz="2600" b="1" dirty="0"/>
              <a:t>centralized web platform</a:t>
            </a:r>
            <a:r>
              <a:rPr lang="en-IN" sz="2600" dirty="0"/>
              <a:t> for event management and online ticket booking. </a:t>
            </a:r>
          </a:p>
          <a:p>
            <a:pPr lvl="0">
              <a:lnSpc>
                <a:spcPct val="100000"/>
              </a:lnSpc>
              <a:buFont typeface="Wingdings" panose="05000000000000000000" pitchFamily="2" charset="2"/>
              <a:buChar char="Ø"/>
            </a:pPr>
            <a:endParaRPr lang="en-IN" sz="2600" dirty="0"/>
          </a:p>
          <a:p>
            <a:pPr lvl="0">
              <a:lnSpc>
                <a:spcPct val="100000"/>
              </a:lnSpc>
              <a:buFont typeface="Wingdings" panose="05000000000000000000" pitchFamily="2" charset="2"/>
              <a:buChar char="Ø"/>
            </a:pPr>
            <a:r>
              <a:rPr lang="en-IN" sz="2600" dirty="0"/>
              <a:t>Use </a:t>
            </a:r>
            <a:r>
              <a:rPr lang="en-IN" sz="2600" b="1" dirty="0" err="1"/>
              <a:t>FastAPI</a:t>
            </a:r>
            <a:r>
              <a:rPr lang="en-IN" sz="2600" b="1" dirty="0"/>
              <a:t> and PostgreSQL</a:t>
            </a:r>
            <a:r>
              <a:rPr lang="en-IN" sz="2600" dirty="0"/>
              <a:t> to provide secure, efficient, and reliable data management. </a:t>
            </a:r>
          </a:p>
          <a:p>
            <a:pPr marL="0" lvl="0" indent="0">
              <a:lnSpc>
                <a:spcPct val="100000"/>
              </a:lnSpc>
              <a:buNone/>
            </a:pPr>
            <a:endParaRPr lang="en-IN" sz="2600" dirty="0"/>
          </a:p>
          <a:p>
            <a:pPr lvl="0">
              <a:lnSpc>
                <a:spcPct val="100000"/>
              </a:lnSpc>
              <a:buFont typeface="Wingdings" panose="05000000000000000000" pitchFamily="2" charset="2"/>
              <a:buChar char="Ø"/>
            </a:pPr>
            <a:r>
              <a:rPr lang="en-IN" sz="2600" dirty="0"/>
              <a:t>Implement </a:t>
            </a:r>
            <a:r>
              <a:rPr lang="en-IN" sz="2600" b="1" dirty="0"/>
              <a:t>real-time ticket availability, online booking, authentication, and admin management</a:t>
            </a:r>
            <a:r>
              <a:rPr lang="en-IN" sz="2600" dirty="0"/>
              <a:t> to reduce errors and manual work.</a:t>
            </a:r>
          </a:p>
          <a:p>
            <a:pPr>
              <a:lnSpc>
                <a:spcPct val="100000"/>
              </a:lnSpc>
              <a:buFont typeface="Wingdings" panose="05000000000000000000" pitchFamily="2" charset="2"/>
              <a:buChar char="Ø"/>
            </a:pPr>
            <a:endParaRPr lang="en-US" sz="2600" dirty="0"/>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a:normAutofit fontScale="62500" lnSpcReduction="20000"/>
          </a:bodyPr>
          <a:lstStyle/>
          <a:p>
            <a:pPr lvl="0" algn="just">
              <a:lnSpc>
                <a:spcPct val="120000"/>
              </a:lnSpc>
              <a:buFont typeface="Wingdings" panose="05000000000000000000" pitchFamily="2" charset="2"/>
              <a:buChar char="Ø"/>
            </a:pPr>
            <a:r>
              <a:rPr lang="en-IN" dirty="0"/>
              <a:t>To develop a </a:t>
            </a:r>
            <a:r>
              <a:rPr lang="en-IN" b="1" dirty="0"/>
              <a:t>smart and centralized platform</a:t>
            </a:r>
            <a:r>
              <a:rPr lang="en-IN" dirty="0"/>
              <a:t> for event management and online ticket booking. </a:t>
            </a:r>
          </a:p>
          <a:p>
            <a:pPr lvl="0" algn="just">
              <a:lnSpc>
                <a:spcPct val="120000"/>
              </a:lnSpc>
              <a:buFont typeface="Wingdings" panose="05000000000000000000" pitchFamily="2" charset="2"/>
              <a:buChar char="Ø"/>
            </a:pPr>
            <a:r>
              <a:rPr lang="en-IN" dirty="0"/>
              <a:t>To provide users with an easy way to </a:t>
            </a:r>
            <a:r>
              <a:rPr lang="en-IN" b="1" dirty="0"/>
              <a:t>search, view, and book events</a:t>
            </a:r>
            <a:r>
              <a:rPr lang="en-IN" dirty="0"/>
              <a:t> online. </a:t>
            </a:r>
          </a:p>
          <a:p>
            <a:pPr lvl="0" algn="just">
              <a:lnSpc>
                <a:spcPct val="120000"/>
              </a:lnSpc>
              <a:buFont typeface="Wingdings" panose="05000000000000000000" pitchFamily="2" charset="2"/>
              <a:buChar char="Ø"/>
            </a:pPr>
            <a:r>
              <a:rPr lang="en-IN" dirty="0"/>
              <a:t>To maintain event, user, venue, ticket, booking, and payment details in a </a:t>
            </a:r>
            <a:r>
              <a:rPr lang="en-IN" b="1" dirty="0"/>
              <a:t>centralized database</a:t>
            </a:r>
            <a:r>
              <a:rPr lang="en-IN" dirty="0"/>
              <a:t>. </a:t>
            </a:r>
          </a:p>
          <a:p>
            <a:pPr lvl="0" algn="just">
              <a:lnSpc>
                <a:spcPct val="120000"/>
              </a:lnSpc>
              <a:buFont typeface="Wingdings" panose="05000000000000000000" pitchFamily="2" charset="2"/>
              <a:buChar char="Ø"/>
            </a:pPr>
            <a:r>
              <a:rPr lang="en-IN" dirty="0"/>
              <a:t>To provide </a:t>
            </a:r>
            <a:r>
              <a:rPr lang="en-IN" b="1" dirty="0"/>
              <a:t>real-time ticket availability</a:t>
            </a:r>
            <a:r>
              <a:rPr lang="en-IN" dirty="0"/>
              <a:t> and reduce overbooking. </a:t>
            </a:r>
          </a:p>
          <a:p>
            <a:pPr lvl="0" algn="just">
              <a:lnSpc>
                <a:spcPct val="120000"/>
              </a:lnSpc>
              <a:buFont typeface="Wingdings" panose="05000000000000000000" pitchFamily="2" charset="2"/>
              <a:buChar char="Ø"/>
            </a:pPr>
            <a:r>
              <a:rPr lang="en-IN" dirty="0"/>
              <a:t>To implement </a:t>
            </a:r>
            <a:r>
              <a:rPr lang="en-IN" b="1" dirty="0"/>
              <a:t>secure user authentication and authorization</a:t>
            </a:r>
            <a:r>
              <a:rPr lang="en-IN" dirty="0"/>
              <a:t>. </a:t>
            </a:r>
          </a:p>
          <a:p>
            <a:pPr lvl="0" algn="just">
              <a:lnSpc>
                <a:spcPct val="120000"/>
              </a:lnSpc>
              <a:buFont typeface="Wingdings" panose="05000000000000000000" pitchFamily="2" charset="2"/>
              <a:buChar char="Ø"/>
            </a:pPr>
            <a:r>
              <a:rPr lang="en-IN" dirty="0"/>
              <a:t>To allow administrators to efficiently </a:t>
            </a:r>
            <a:r>
              <a:rPr lang="en-IN" b="1" dirty="0"/>
              <a:t>manage events, venues, tickets, and bookings</a:t>
            </a:r>
            <a:r>
              <a:rPr lang="en-IN" dirty="0"/>
              <a:t>. </a:t>
            </a:r>
          </a:p>
          <a:p>
            <a:pPr lvl="0" algn="just">
              <a:lnSpc>
                <a:spcPct val="120000"/>
              </a:lnSpc>
              <a:buFont typeface="Wingdings" panose="05000000000000000000" pitchFamily="2" charset="2"/>
              <a:buChar char="Ø"/>
            </a:pPr>
            <a:r>
              <a:rPr lang="en-IN" dirty="0"/>
              <a:t>To provide </a:t>
            </a:r>
            <a:r>
              <a:rPr lang="en-IN" b="1" dirty="0"/>
              <a:t>booking confirmation and booking history</a:t>
            </a:r>
            <a:r>
              <a:rPr lang="en-IN" dirty="0"/>
              <a:t> for users. </a:t>
            </a:r>
          </a:p>
          <a:p>
            <a:pPr lvl="0" algn="just">
              <a:lnSpc>
                <a:spcPct val="120000"/>
              </a:lnSpc>
              <a:buFont typeface="Wingdings" panose="05000000000000000000" pitchFamily="2" charset="2"/>
              <a:buChar char="Ø"/>
            </a:pPr>
            <a:r>
              <a:rPr lang="en-IN" dirty="0"/>
              <a:t>To reduce manual work, duplicate records, and human errors. </a:t>
            </a:r>
          </a:p>
          <a:p>
            <a:pPr lvl="0" algn="just">
              <a:lnSpc>
                <a:spcPct val="120000"/>
              </a:lnSpc>
              <a:buFont typeface="Wingdings" panose="05000000000000000000" pitchFamily="2" charset="2"/>
              <a:buChar char="Ø"/>
            </a:pPr>
            <a:r>
              <a:rPr lang="en-IN" dirty="0"/>
              <a:t>To implement database concepts such as </a:t>
            </a:r>
            <a:r>
              <a:rPr lang="en-IN" b="1" dirty="0"/>
              <a:t>normalization, constraints, relationships, transactions, views, and triggers</a:t>
            </a:r>
            <a:r>
              <a:rPr lang="en-IN" dirty="0"/>
              <a:t>. </a:t>
            </a:r>
          </a:p>
          <a:p>
            <a:pPr lvl="0" algn="just">
              <a:lnSpc>
                <a:spcPct val="120000"/>
              </a:lnSpc>
              <a:buFont typeface="Wingdings" panose="05000000000000000000" pitchFamily="2" charset="2"/>
              <a:buChar char="Ø"/>
            </a:pPr>
            <a:r>
              <a:rPr lang="en-IN" dirty="0"/>
              <a:t>To provide a </a:t>
            </a:r>
            <a:r>
              <a:rPr lang="en-IN" b="1" dirty="0"/>
              <a:t>reliable and user-friendly system</a:t>
            </a:r>
            <a:r>
              <a:rPr lang="en-IN" dirty="0"/>
              <a:t> for both event organizers and attendees.</a:t>
            </a:r>
          </a:p>
          <a:p>
            <a:pPr lvl="0" algn="just">
              <a:lnSpc>
                <a:spcPct val="120000"/>
              </a:lnSpc>
              <a:buFont typeface="Wingdings" panose="05000000000000000000" pitchFamily="2" charset="2"/>
              <a:buChar char="Ø"/>
            </a:pPr>
            <a:endParaRPr lang="en-US" dirty="0"/>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a:xfrm>
            <a:off x="838200" y="1530657"/>
            <a:ext cx="10515600" cy="4351338"/>
          </a:xfrm>
        </p:spPr>
        <p:txBody>
          <a:bodyPr>
            <a:normAutofit fontScale="92500" lnSpcReduction="10000"/>
          </a:bodyPr>
          <a:lstStyle/>
          <a:p>
            <a:pPr lvl="0" algn="just">
              <a:lnSpc>
                <a:spcPct val="110000"/>
              </a:lnSpc>
              <a:buFont typeface="Wingdings" panose="05000000000000000000" pitchFamily="2" charset="2"/>
              <a:buChar char="Ø"/>
            </a:pPr>
            <a:r>
              <a:rPr lang="en-IN" b="1" dirty="0"/>
              <a:t>User &amp; Authentication Module</a:t>
            </a:r>
            <a:r>
              <a:rPr lang="en-IN" dirty="0"/>
              <a:t> – Registration, login, profile, and secure authentication. </a:t>
            </a:r>
          </a:p>
          <a:p>
            <a:pPr lvl="0" algn="just">
              <a:lnSpc>
                <a:spcPct val="110000"/>
              </a:lnSpc>
              <a:buFont typeface="Wingdings" panose="05000000000000000000" pitchFamily="2" charset="2"/>
              <a:buChar char="Ø"/>
            </a:pPr>
            <a:r>
              <a:rPr lang="en-IN" b="1" dirty="0"/>
              <a:t>Event &amp; Venue Management Module</a:t>
            </a:r>
            <a:r>
              <a:rPr lang="en-IN" dirty="0"/>
              <a:t> – Manage events, categories, venues, and event details. </a:t>
            </a:r>
          </a:p>
          <a:p>
            <a:pPr lvl="0" algn="just">
              <a:lnSpc>
                <a:spcPct val="110000"/>
              </a:lnSpc>
              <a:buFont typeface="Wingdings" panose="05000000000000000000" pitchFamily="2" charset="2"/>
              <a:buChar char="Ø"/>
            </a:pPr>
            <a:r>
              <a:rPr lang="en-IN" b="1" dirty="0"/>
              <a:t>Ticket &amp; Booking Module</a:t>
            </a:r>
            <a:r>
              <a:rPr lang="en-IN" dirty="0"/>
              <a:t> – Manage ticket types, availability, online booking, and booking history. </a:t>
            </a:r>
          </a:p>
          <a:p>
            <a:pPr lvl="0" algn="just">
              <a:lnSpc>
                <a:spcPct val="110000"/>
              </a:lnSpc>
              <a:buFont typeface="Wingdings" panose="05000000000000000000" pitchFamily="2" charset="2"/>
              <a:buChar char="Ø"/>
            </a:pPr>
            <a:r>
              <a:rPr lang="en-IN" b="1" dirty="0"/>
              <a:t>Payment Module</a:t>
            </a:r>
            <a:r>
              <a:rPr lang="en-IN" dirty="0"/>
              <a:t> – Handle payments and maintain transaction records. </a:t>
            </a:r>
          </a:p>
          <a:p>
            <a:pPr lvl="0" algn="just">
              <a:lnSpc>
                <a:spcPct val="110000"/>
              </a:lnSpc>
              <a:buFont typeface="Wingdings" panose="05000000000000000000" pitchFamily="2" charset="2"/>
              <a:buChar char="Ø"/>
            </a:pPr>
            <a:r>
              <a:rPr lang="en-IN" b="1" dirty="0"/>
              <a:t>Admin &amp; Reports Module</a:t>
            </a:r>
            <a:r>
              <a:rPr lang="en-IN" dirty="0"/>
              <a:t> – Manage users, bookings, events, tickets, and sales reports.</a:t>
            </a:r>
          </a:p>
          <a:p>
            <a:pPr algn="just">
              <a:lnSpc>
                <a:spcPct val="110000"/>
              </a:lnSpc>
              <a:buFont typeface="Wingdings" panose="05000000000000000000" pitchFamily="2" charset="2"/>
              <a:buChar char="Ø"/>
            </a:pPr>
            <a:endParaRPr lang="en-US" dirty="0"/>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graphicFrame>
        <p:nvGraphicFramePr>
          <p:cNvPr id="3" name="Content Placeholder 2">
            <a:extLst>
              <a:ext uri="{FF2B5EF4-FFF2-40B4-BE49-F238E27FC236}">
                <a16:creationId xmlns:a16="http://schemas.microsoft.com/office/drawing/2014/main" id="{76DCCA78-1844-86AA-7D51-ECCE9FF7335D}"/>
              </a:ext>
            </a:extLst>
          </p:cNvPr>
          <p:cNvGraphicFramePr>
            <a:graphicFrameLocks noGrp="1"/>
          </p:cNvGraphicFramePr>
          <p:nvPr>
            <p:ph idx="1"/>
            <p:extLst>
              <p:ext uri="{D42A27DB-BD31-4B8C-83A1-F6EECF244321}">
                <p14:modId xmlns:p14="http://schemas.microsoft.com/office/powerpoint/2010/main" val="2756527540"/>
              </p:ext>
            </p:extLst>
          </p:nvPr>
        </p:nvGraphicFramePr>
        <p:xfrm>
          <a:off x="959874" y="2132290"/>
          <a:ext cx="10272252" cy="3403271"/>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287929871"/>
                    </a:ext>
                  </a:extLst>
                </a:gridCol>
                <a:gridCol w="5014452">
                  <a:extLst>
                    <a:ext uri="{9D8B030D-6E8A-4147-A177-3AD203B41FA5}">
                      <a16:colId xmlns:a16="http://schemas.microsoft.com/office/drawing/2014/main" val="2069891525"/>
                    </a:ext>
                  </a:extLst>
                </a:gridCol>
              </a:tblGrid>
              <a:tr h="476418">
                <a:tc>
                  <a:txBody>
                    <a:bodyPr/>
                    <a:lstStyle/>
                    <a:p>
                      <a:pPr algn="ctr"/>
                      <a:r>
                        <a:rPr lang="en-IN" sz="2500" dirty="0"/>
                        <a:t>SOFTWARE</a:t>
                      </a:r>
                    </a:p>
                  </a:txBody>
                  <a:tcPr/>
                </a:tc>
                <a:tc>
                  <a:txBody>
                    <a:bodyPr/>
                    <a:lstStyle/>
                    <a:p>
                      <a:pPr algn="ctr"/>
                      <a:r>
                        <a:rPr lang="en-IN" sz="2500" dirty="0"/>
                        <a:t>HARDWARE</a:t>
                      </a:r>
                    </a:p>
                  </a:txBody>
                  <a:tcPr/>
                </a:tc>
                <a:extLst>
                  <a:ext uri="{0D108BD9-81ED-4DB2-BD59-A6C34878D82A}">
                    <a16:rowId xmlns:a16="http://schemas.microsoft.com/office/drawing/2014/main" val="2167229827"/>
                  </a:ext>
                </a:extLst>
              </a:tr>
              <a:tr h="2926853">
                <a:tc>
                  <a:txBody>
                    <a:bodyPr/>
                    <a:lstStyle/>
                    <a:p>
                      <a:pPr lvl="0"/>
                      <a:r>
                        <a:rPr lang="en-IN" b="1" dirty="0"/>
                        <a:t>Operating System:</a:t>
                      </a:r>
                      <a:r>
                        <a:rPr lang="en-IN" dirty="0"/>
                        <a:t> Windows 10/11 or Linux </a:t>
                      </a:r>
                    </a:p>
                    <a:p>
                      <a:pPr lvl="0"/>
                      <a:r>
                        <a:rPr lang="en-IN" b="1" dirty="0"/>
                        <a:t>Frontend:</a:t>
                      </a:r>
                      <a:r>
                        <a:rPr lang="en-IN" dirty="0"/>
                        <a:t> HTML, CSS, JavaScript </a:t>
                      </a:r>
                    </a:p>
                    <a:p>
                      <a:pPr lvl="0"/>
                      <a:r>
                        <a:rPr lang="en-IN" b="1" dirty="0"/>
                        <a:t>Backend:</a:t>
                      </a:r>
                      <a:r>
                        <a:rPr lang="en-IN" dirty="0"/>
                        <a:t> Python with </a:t>
                      </a:r>
                      <a:r>
                        <a:rPr lang="en-IN" dirty="0" err="1"/>
                        <a:t>FastAPI</a:t>
                      </a:r>
                      <a:r>
                        <a:rPr lang="en-IN" dirty="0"/>
                        <a:t> </a:t>
                      </a:r>
                    </a:p>
                    <a:p>
                      <a:pPr lvl="0"/>
                      <a:r>
                        <a:rPr lang="en-IN" b="1" dirty="0"/>
                        <a:t>Database:</a:t>
                      </a:r>
                      <a:r>
                        <a:rPr lang="en-IN" dirty="0"/>
                        <a:t> PostgreSQL </a:t>
                      </a:r>
                    </a:p>
                    <a:p>
                      <a:pPr lvl="0"/>
                      <a:r>
                        <a:rPr lang="en-IN" b="1" dirty="0"/>
                        <a:t>ORM:</a:t>
                      </a:r>
                      <a:r>
                        <a:rPr lang="en-IN" dirty="0"/>
                        <a:t> </a:t>
                      </a:r>
                      <a:r>
                        <a:rPr lang="en-IN" dirty="0" err="1"/>
                        <a:t>SQLAlchemy</a:t>
                      </a:r>
                      <a:r>
                        <a:rPr lang="en-IN" dirty="0"/>
                        <a:t> </a:t>
                      </a:r>
                    </a:p>
                    <a:p>
                      <a:pPr lvl="0"/>
                      <a:r>
                        <a:rPr lang="en-IN" b="1" dirty="0"/>
                        <a:t>API Testing:</a:t>
                      </a:r>
                      <a:r>
                        <a:rPr lang="en-IN" dirty="0"/>
                        <a:t> Postman </a:t>
                      </a:r>
                    </a:p>
                    <a:p>
                      <a:pPr lvl="0"/>
                      <a:r>
                        <a:rPr lang="en-IN" b="1" dirty="0"/>
                        <a:t>Code Editor:</a:t>
                      </a:r>
                      <a:r>
                        <a:rPr lang="en-IN" dirty="0"/>
                        <a:t> Visual Studio Code </a:t>
                      </a:r>
                    </a:p>
                    <a:p>
                      <a:pPr lvl="0"/>
                      <a:r>
                        <a:rPr lang="en-IN" b="1" dirty="0"/>
                        <a:t>Version Control:</a:t>
                      </a:r>
                      <a:r>
                        <a:rPr lang="en-IN" dirty="0"/>
                        <a:t> Git &amp; GitHub </a:t>
                      </a:r>
                    </a:p>
                    <a:p>
                      <a:pPr lvl="0"/>
                      <a:r>
                        <a:rPr lang="en-IN" b="1" dirty="0"/>
                        <a:t>Web Browser:</a:t>
                      </a:r>
                      <a:r>
                        <a:rPr lang="en-IN" dirty="0"/>
                        <a:t> Google Chrome / Microsoft Edge </a:t>
                      </a:r>
                    </a:p>
                    <a:p>
                      <a:pPr lvl="0"/>
                      <a:r>
                        <a:rPr lang="en-IN" b="1" dirty="0"/>
                        <a:t>Python Version:</a:t>
                      </a:r>
                      <a:r>
                        <a:rPr lang="en-IN" dirty="0"/>
                        <a:t> Python 3.10 or above</a:t>
                      </a:r>
                    </a:p>
                  </a:txBody>
                  <a:tcPr/>
                </a:tc>
                <a:tc>
                  <a:txBody>
                    <a:bodyPr/>
                    <a:lstStyle/>
                    <a:p>
                      <a:pPr lvl="0"/>
                      <a:r>
                        <a:rPr lang="en-IN" b="1" dirty="0"/>
                        <a:t>Processor:</a:t>
                      </a:r>
                      <a:r>
                        <a:rPr lang="en-IN" dirty="0"/>
                        <a:t> Intel Core i3 or above </a:t>
                      </a:r>
                    </a:p>
                    <a:p>
                      <a:pPr lvl="0"/>
                      <a:r>
                        <a:rPr lang="en-IN" b="1" dirty="0"/>
                        <a:t>RAM:</a:t>
                      </a:r>
                      <a:r>
                        <a:rPr lang="en-IN" dirty="0"/>
                        <a:t> Minimum 4 GB </a:t>
                      </a:r>
                    </a:p>
                    <a:p>
                      <a:pPr lvl="0"/>
                      <a:r>
                        <a:rPr lang="en-IN" b="1" dirty="0"/>
                        <a:t>Storage:</a:t>
                      </a:r>
                      <a:r>
                        <a:rPr lang="en-IN" dirty="0"/>
                        <a:t> Minimum 10 GB free space </a:t>
                      </a:r>
                    </a:p>
                    <a:p>
                      <a:pPr lvl="0"/>
                      <a:r>
                        <a:rPr lang="en-IN" b="1" dirty="0"/>
                        <a:t>Internet Connection:</a:t>
                      </a:r>
                      <a:r>
                        <a:rPr lang="en-IN" dirty="0"/>
                        <a:t> Required for development and API testing</a:t>
                      </a:r>
                    </a:p>
                    <a:p>
                      <a:endParaRPr lang="en-IN" dirty="0"/>
                    </a:p>
                  </a:txBody>
                  <a:tcPr/>
                </a:tc>
                <a:extLst>
                  <a:ext uri="{0D108BD9-81ED-4DB2-BD59-A6C34878D82A}">
                    <a16:rowId xmlns:a16="http://schemas.microsoft.com/office/drawing/2014/main" val="4157210288"/>
                  </a:ext>
                </a:extLst>
              </a:tr>
            </a:tbl>
          </a:graphicData>
        </a:graphic>
      </p:graphicFrame>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400869" y="283266"/>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
        <p:nvSpPr>
          <p:cNvPr id="3" name="TextBox 2">
            <a:extLst>
              <a:ext uri="{FF2B5EF4-FFF2-40B4-BE49-F238E27FC236}">
                <a16:creationId xmlns:a16="http://schemas.microsoft.com/office/drawing/2014/main" id="{E989E67F-A50A-A003-F354-92625FF34D8C}"/>
              </a:ext>
            </a:extLst>
          </p:cNvPr>
          <p:cNvSpPr txBox="1"/>
          <p:nvPr/>
        </p:nvSpPr>
        <p:spPr>
          <a:xfrm>
            <a:off x="1406014" y="1356852"/>
            <a:ext cx="9527458" cy="4693593"/>
          </a:xfrm>
          <a:prstGeom prst="rect">
            <a:avLst/>
          </a:prstGeom>
          <a:noFill/>
        </p:spPr>
        <p:txBody>
          <a:bodyPr wrap="square" rtlCol="0">
            <a:spAutoFit/>
          </a:bodyPr>
          <a:lstStyle/>
          <a:p>
            <a:pPr algn="just"/>
            <a:r>
              <a:rPr lang="en-IN" sz="2300" b="1" dirty="0"/>
              <a:t>CONCLUSION:</a:t>
            </a:r>
          </a:p>
          <a:p>
            <a:pPr algn="just"/>
            <a:endParaRPr lang="en-IN" sz="2300" b="1" dirty="0"/>
          </a:p>
          <a:p>
            <a:pPr marL="342900" lvl="0" indent="-342900" algn="just">
              <a:buFont typeface="Wingdings" panose="05000000000000000000" pitchFamily="2" charset="2"/>
              <a:buChar char="Ø"/>
            </a:pPr>
            <a:r>
              <a:rPr lang="en-IN" sz="2300" dirty="0"/>
              <a:t>Provides a </a:t>
            </a:r>
            <a:r>
              <a:rPr lang="en-IN" sz="2300" b="1" dirty="0"/>
              <a:t>centralized and efficient platform</a:t>
            </a:r>
            <a:r>
              <a:rPr lang="en-IN" sz="2300" dirty="0"/>
              <a:t> for event management and online ticket booking. </a:t>
            </a:r>
          </a:p>
          <a:p>
            <a:pPr marL="342900" lvl="0" indent="-342900" algn="just">
              <a:buFont typeface="Wingdings" panose="05000000000000000000" pitchFamily="2" charset="2"/>
              <a:buChar char="Ø"/>
            </a:pPr>
            <a:r>
              <a:rPr lang="en-IN" sz="2300" dirty="0"/>
              <a:t>Improves </a:t>
            </a:r>
            <a:r>
              <a:rPr lang="en-IN" sz="2300" b="1" dirty="0"/>
              <a:t>data security, accuracy, and consistency</a:t>
            </a:r>
            <a:r>
              <a:rPr lang="en-IN" sz="2300" dirty="0"/>
              <a:t> using PostgreSQL. </a:t>
            </a:r>
          </a:p>
          <a:p>
            <a:pPr marL="342900" lvl="0" indent="-342900" algn="just">
              <a:buFont typeface="Wingdings" panose="05000000000000000000" pitchFamily="2" charset="2"/>
              <a:buChar char="Ø"/>
            </a:pPr>
            <a:r>
              <a:rPr lang="en-IN" sz="2300" dirty="0"/>
              <a:t>Reduces manual work and makes </a:t>
            </a:r>
            <a:r>
              <a:rPr lang="en-IN" sz="2300" b="1" dirty="0"/>
              <a:t>event and booking management easier</a:t>
            </a:r>
            <a:r>
              <a:rPr lang="en-IN" sz="2300" dirty="0"/>
              <a:t>.</a:t>
            </a:r>
          </a:p>
          <a:p>
            <a:pPr lvl="0" algn="just"/>
            <a:r>
              <a:rPr lang="en-IN" sz="2300" dirty="0"/>
              <a:t> </a:t>
            </a:r>
          </a:p>
          <a:p>
            <a:pPr algn="just"/>
            <a:r>
              <a:rPr lang="en-IN" sz="2300" b="1" dirty="0"/>
              <a:t>FUTURE SCOPE:</a:t>
            </a:r>
          </a:p>
          <a:p>
            <a:pPr algn="just"/>
            <a:endParaRPr lang="en-IN" sz="2300" b="1" dirty="0"/>
          </a:p>
          <a:p>
            <a:pPr marL="342900" lvl="0" indent="-342900" algn="just">
              <a:buFont typeface="Wingdings" panose="05000000000000000000" pitchFamily="2" charset="2"/>
              <a:buChar char="Ø"/>
            </a:pPr>
            <a:r>
              <a:rPr lang="en-IN" sz="2300" dirty="0"/>
              <a:t>Integration of </a:t>
            </a:r>
            <a:r>
              <a:rPr lang="en-IN" sz="2300" b="1" dirty="0"/>
              <a:t>real-time online payment gateways</a:t>
            </a:r>
            <a:r>
              <a:rPr lang="en-IN" sz="2300" dirty="0"/>
              <a:t> and QR-code tickets. </a:t>
            </a:r>
          </a:p>
          <a:p>
            <a:pPr marL="342900" lvl="0" indent="-342900" algn="just">
              <a:buFont typeface="Wingdings" panose="05000000000000000000" pitchFamily="2" charset="2"/>
              <a:buChar char="Ø"/>
            </a:pPr>
            <a:r>
              <a:rPr lang="en-IN" sz="2300" dirty="0"/>
              <a:t>Development of a </a:t>
            </a:r>
            <a:r>
              <a:rPr lang="en-IN" sz="2300" b="1" dirty="0"/>
              <a:t>mobile application</a:t>
            </a:r>
            <a:r>
              <a:rPr lang="en-IN" sz="2300" dirty="0"/>
              <a:t> for easier access. </a:t>
            </a:r>
          </a:p>
          <a:p>
            <a:pPr marL="342900" lvl="0" indent="-342900" algn="just">
              <a:buFont typeface="Wingdings" panose="05000000000000000000" pitchFamily="2" charset="2"/>
              <a:buChar char="Ø"/>
            </a:pPr>
            <a:r>
              <a:rPr lang="en-IN" sz="2300" dirty="0"/>
              <a:t>Addition of </a:t>
            </a:r>
            <a:r>
              <a:rPr lang="en-IN" sz="2300" b="1" dirty="0"/>
              <a:t>AI-based event recommendations and analytics</a:t>
            </a:r>
            <a:r>
              <a:rPr lang="en-IN" sz="2300" dirty="0"/>
              <a:t>.</a:t>
            </a:r>
          </a:p>
          <a:p>
            <a:pPr algn="just"/>
            <a:endParaRPr lang="en-IN" sz="2300" dirty="0"/>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8317</TotalTime>
  <Words>1000</Words>
  <Application>Microsoft Office PowerPoint</Application>
  <PresentationFormat>Widescreen</PresentationFormat>
  <Paragraphs>142</Paragraphs>
  <Slides>12</Slides>
  <Notes>10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12</vt:i4>
      </vt:variant>
    </vt:vector>
  </HeadingPairs>
  <TitlesOfParts>
    <vt:vector size="19" baseType="lpstr">
      <vt:lpstr>Arial</vt:lpstr>
      <vt:lpstr>Calibri</vt:lpstr>
      <vt:lpstr>Calibri Light</vt:lpstr>
      <vt:lpstr>Times New Roman</vt:lpstr>
      <vt:lpstr>Wingdings</vt:lpstr>
      <vt:lpstr>Office Theme</vt:lpstr>
      <vt:lpstr>Custom Design</vt:lpstr>
      <vt:lpstr> 1st  REVIEW   SMART EVENT MANAGEMENT AND ONLINE TICKET BOOKING PLATFORM </vt:lpstr>
      <vt:lpstr>GROUP NUMBER:1</vt:lpstr>
      <vt:lpstr>ABSTRACT</vt:lpstr>
      <vt:lpstr>INTRDOUCTION</vt:lpstr>
      <vt:lpstr>EXISTING SYSTEM</vt:lpstr>
      <vt:lpstr>PROBLEM</vt:lpstr>
      <vt:lpstr>SOLUTION(Contribution)</vt:lpstr>
      <vt:lpstr>OBJECTIVES</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MD AMAN</cp:lastModifiedBy>
  <cp:revision>94</cp:revision>
  <dcterms:created xsi:type="dcterms:W3CDTF">2022-05-20T10:20:31Z</dcterms:created>
  <dcterms:modified xsi:type="dcterms:W3CDTF">2026-08-17T08:19:28Z</dcterms:modified>
</cp:coreProperties>
</file>